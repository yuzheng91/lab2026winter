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5287C-DF88-FE16-6697-0C87AC9F9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8122D2-C043-9F47-814C-0FE5668F1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701455-BE18-9D92-0260-F1A04A4D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08AEB6-9894-890D-08F1-7EED648A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C7AB3E-9790-FC25-B796-EF229626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94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9294F3-81FC-0948-B7A2-9E6156EC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64019D-B5AC-6829-66E4-BF86DE13C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56E041-57F9-DC88-881B-446B2633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3B2C53-8F46-F1A9-0E54-C84B158F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49C6DF-F5A6-D942-E054-73844CDA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38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FEAB26-C7A4-7164-0F0D-3CE21592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E17485-76DF-2B2B-AE7C-CBD7089AD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9887B-6180-1DD9-D0AA-27928859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8A1CF0-B15E-256F-EF97-3CE72EC6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969595-DDC7-B173-7C9C-835A4E87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41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3E21C8-D737-F7A0-1348-535C88BE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5D45A3-944D-ACF3-C8A9-E75847553D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7F5716-C7C7-77B3-4F42-A40041B26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2F2C45-200E-E640-87BC-5B78790E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024DD0-DFB0-12A4-06D1-FE54DFA5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143DCE-8E9B-B5E1-ED2A-9D30C8E6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75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17C93-5260-98CF-75D6-03093373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3A7A89-2524-CE35-6169-42E172D90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3C0183-28E8-8586-9AB5-5BF661B1B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3A0877-1196-E53B-7879-6311A9977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A9C67E3-AEE4-D947-C5DC-DA55BF2F4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BE5F1AF-FEC5-608D-A202-6E8FD181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D7BC516-3D5A-8321-B019-899F6DCA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BC805A9-D02A-66E8-2A74-084FCAA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68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901E37-7EA5-53C9-183E-61969641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3C940AE-83A4-561C-BC65-04841B6A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D7CE78-A74A-D7E2-8680-DAAB7421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91AA31-08F2-2ACF-08DE-7E4760F4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56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4B5055-1E25-DECD-B8C9-65EAA903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900723E-5AD6-C2C5-689A-7A0FBC15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F8A35B-828B-C33D-7D03-82C77953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56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8B6447-859B-EA2D-7619-3AFAAACA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E87DCB-B696-BE89-B010-E2D0AC55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554656-CDD5-EC63-E8DD-B90C6FA4F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E618C8-732D-246E-BFEA-380AD6A0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3405FA-960E-B6DB-68AF-3EFE0560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C00172-2C11-14BE-93F3-3D8020F1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70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385275-6B1E-74BB-FFBC-798EBF00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E9511F1-2BA8-FEE3-D92F-0A11EA700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E615CBD-6C54-4E2C-FB26-4673F8052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8AADAA-CA6B-7D3A-A380-C9234A24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E0656F-92EC-423D-ED0F-C6A87435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942191-BD83-CC76-00BE-F0EC5711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102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4F5733-0EF8-5948-036D-6C7748039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601E0F-E6DE-EE92-EDC7-D76EC5C32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9635ED-3C58-85ED-6594-FB3B8392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DC6587-33EF-9500-CC9E-6A46B46A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58F9ED-3CDF-3D92-E0D5-442DE5DD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92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B5A7FC0-B54A-A990-B04D-26227D10F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AAF5F3-4585-D07D-2B43-D37EC8521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A09A65-2749-1EA3-5FF1-D0DA055B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3303DF-D17A-E5EA-A847-899B34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E70481-CA15-89AE-CAF0-6DB5FB64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85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7B08990-C8B7-282A-46CD-6367B209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8F7233-97F9-E745-A73E-709FC6ED6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236386-573B-AF3B-60A8-6C8AECEBB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464BA-6437-4D21-9C43-E85F3B2E7CC0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9B1C4B-22CA-ED4D-6DC4-84050F21B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7CC27E-0441-8E54-1819-6ACBB7FDB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7799D-9C46-4591-A563-5D8BAFF279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9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wnloads.wormbase.org/releases/current-production-release/species/c_elegans/PRJNA13758/annotation/c_elegans.PRJNA13758.WS298.geneOtherIDs.txt.gz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eneontology/geneontology.github.io/blob/issue-go-annotation-2917-gaf-2_2-doc/_docs/go-annotation-file-gaf-format-22.md#evidence-code-column-7" TargetMode="External"/><Relationship Id="rId13" Type="http://schemas.openxmlformats.org/officeDocument/2006/relationships/hyperlink" Target="https://github.com/geneontology/geneontology.github.io/blob/issue-go-annotation-2917-gaf-2_2-doc/_docs/go-annotation-file-gaf-format-22.md#db-object-type-column-12" TargetMode="External"/><Relationship Id="rId18" Type="http://schemas.openxmlformats.org/officeDocument/2006/relationships/hyperlink" Target="https://github.com/geneontology/geneontology.github.io/blob/issue-go-annotation-2917-gaf-2_2-doc/_docs/go-annotation-file-gaf-format-22.md#gene-product-form-id-column-17" TargetMode="External"/><Relationship Id="rId3" Type="http://schemas.openxmlformats.org/officeDocument/2006/relationships/hyperlink" Target="https://github.com/geneontology/geneontology.github.io/blob/issue-go-annotation-2917-gaf-2_2-doc/_docs/go-annotation-file-gaf-format-22.md#db-object-id-column-2" TargetMode="External"/><Relationship Id="rId7" Type="http://schemas.openxmlformats.org/officeDocument/2006/relationships/hyperlink" Target="https://github.com/geneontology/geneontology.github.io/blob/issue-go-annotation-2917-gaf-2_2-doc/_docs/go-annotation-file-gaf-format-22.md#dbreference-column-6" TargetMode="External"/><Relationship Id="rId12" Type="http://schemas.openxmlformats.org/officeDocument/2006/relationships/hyperlink" Target="https://github.com/geneontology/geneontology.github.io/blob/issue-go-annotation-2917-gaf-2_2-doc/_docs/go-annotation-file-gaf-format-22.md#db-object-synonym-column-11" TargetMode="External"/><Relationship Id="rId17" Type="http://schemas.openxmlformats.org/officeDocument/2006/relationships/hyperlink" Target="https://github.com/geneontology/geneontology.github.io/blob/issue-go-annotation-2917-gaf-2_2-doc/_docs/go-annotation-file-gaf-format-22.md#annotation-extension-column-16" TargetMode="External"/><Relationship Id="rId2" Type="http://schemas.openxmlformats.org/officeDocument/2006/relationships/hyperlink" Target="https://github.com/geneontology/geneontology.github.io/blob/issue-go-annotation-2917-gaf-2_2-doc/_docs/go-annotation-file-gaf-format-22.md#db-column-1" TargetMode="External"/><Relationship Id="rId16" Type="http://schemas.openxmlformats.org/officeDocument/2006/relationships/hyperlink" Target="https://github.com/geneontology/geneontology.github.io/blob/issue-go-annotation-2917-gaf-2_2-doc/_docs/go-annotation-file-gaf-format-22.md#assigned-by-column-1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eneontology/geneontology.github.io/blob/issue-go-annotation-2917-gaf-2_2-doc/_docs/go-annotation-file-gaf-format-22.md#go-id-column-5" TargetMode="External"/><Relationship Id="rId11" Type="http://schemas.openxmlformats.org/officeDocument/2006/relationships/hyperlink" Target="https://github.com/geneontology/geneontology.github.io/blob/issue-go-annotation-2917-gaf-2_2-doc/_docs/go-annotation-file-gaf-format-22.md#db-object-name-column-10" TargetMode="External"/><Relationship Id="rId5" Type="http://schemas.openxmlformats.org/officeDocument/2006/relationships/hyperlink" Target="https://github.com/geneontology/geneontology.github.io/blob/issue-go-annotation-2917-gaf-2_2-doc/_docs/go-annotation-file-gaf-format-22.md#qualifier-column-4" TargetMode="External"/><Relationship Id="rId15" Type="http://schemas.openxmlformats.org/officeDocument/2006/relationships/hyperlink" Target="https://github.com/geneontology/geneontology.github.io/blob/issue-go-annotation-2917-gaf-2_2-doc/_docs/go-annotation-file-gaf-format-22.md#date-column-14" TargetMode="External"/><Relationship Id="rId10" Type="http://schemas.openxmlformats.org/officeDocument/2006/relationships/hyperlink" Target="https://github.com/geneontology/geneontology.github.io/blob/issue-go-annotation-2917-gaf-2_2-doc/_docs/go-annotation-file-gaf-format-22.md#aspect-column-9" TargetMode="External"/><Relationship Id="rId19" Type="http://schemas.openxmlformats.org/officeDocument/2006/relationships/hyperlink" Target="https://github.com/geneontology/geneontology.github.io/blob/issue-go-annotation-2917-gaf-2_2-doc/_docs/go-annotation-file-gaf-format-22.md" TargetMode="External"/><Relationship Id="rId4" Type="http://schemas.openxmlformats.org/officeDocument/2006/relationships/hyperlink" Target="https://github.com/geneontology/geneontology.github.io/blob/issue-go-annotation-2917-gaf-2_2-doc/_docs/go-annotation-file-gaf-format-22.md#db-object-symbol-column-3" TargetMode="External"/><Relationship Id="rId9" Type="http://schemas.openxmlformats.org/officeDocument/2006/relationships/hyperlink" Target="https://github.com/geneontology/geneontology.github.io/blob/issue-go-annotation-2917-gaf-2_2-doc/_docs/go-annotation-file-gaf-format-22.md#with-or-from-column-8" TargetMode="External"/><Relationship Id="rId14" Type="http://schemas.openxmlformats.org/officeDocument/2006/relationships/hyperlink" Target="https://github.com/geneontology/geneontology.github.io/blob/issue-go-annotation-2917-gaf-2_2-doc/_docs/go-annotation-file-gaf-format-22.md#taxon-column-13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3F562-A794-00A4-905D-30EF7BA317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線蟲</a:t>
            </a:r>
            <a:r>
              <a:rPr lang="en-US" altLang="zh-TW" dirty="0"/>
              <a:t>genes, GO term</a:t>
            </a:r>
            <a:r>
              <a:rPr lang="zh-TW" altLang="en-US" dirty="0"/>
              <a:t>整理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FD130E-BC80-EDEE-DE91-CD7D286A9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7676"/>
            <a:ext cx="9144000" cy="1655762"/>
          </a:xfrm>
        </p:spPr>
        <p:txBody>
          <a:bodyPr/>
          <a:lstStyle/>
          <a:p>
            <a:r>
              <a:rPr lang="en-US" altLang="zh-TW" dirty="0"/>
              <a:t>HW2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227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7967FF-65CC-0173-6F5E-14F74AAB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整理線蟲基因對照表</a:t>
            </a:r>
            <a:r>
              <a:rPr lang="en-US" altLang="zh-TW" dirty="0"/>
              <a:t>, C. elegans W298 genome=49164 genes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8F915B-63B1-462D-62F4-1410FB755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422" y="1690688"/>
            <a:ext cx="10515600" cy="4351338"/>
          </a:xfrm>
        </p:spPr>
        <p:txBody>
          <a:bodyPr/>
          <a:lstStyle/>
          <a:p>
            <a:endParaRPr lang="en-US" altLang="zh-TW" dirty="0"/>
          </a:p>
          <a:p>
            <a:r>
              <a:rPr lang="en-US" altLang="zh-TW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https://downloads.wormbase.org/releases/</a:t>
            </a:r>
            <a:r>
              <a:rPr lang="en-US" altLang="zh-TW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current-production-release</a:t>
            </a:r>
            <a:r>
              <a:rPr lang="en-US" altLang="zh-TW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/species/c_elegans/PRJNA13758/annotation/c_elegans.PRJNA13758.WS298.geneOtherIDs.txt.gz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只留</a:t>
            </a:r>
            <a:r>
              <a:rPr lang="en-US" altLang="zh-TW" dirty="0"/>
              <a:t>Live</a:t>
            </a:r>
            <a:r>
              <a:rPr lang="zh-TW" altLang="en-US" dirty="0"/>
              <a:t>的</a:t>
            </a:r>
            <a:r>
              <a:rPr lang="en-US" altLang="zh-TW" dirty="0"/>
              <a:t>genes, </a:t>
            </a:r>
            <a:r>
              <a:rPr lang="zh-TW" altLang="en-US" dirty="0"/>
              <a:t>共</a:t>
            </a:r>
            <a:r>
              <a:rPr lang="en-US" altLang="zh-TW" b="1" dirty="0">
                <a:highlight>
                  <a:srgbClr val="FFFF00"/>
                </a:highlight>
              </a:rPr>
              <a:t>49164 genes</a:t>
            </a:r>
            <a:endParaRPr lang="zh-TW" altLang="en-US" b="1" dirty="0">
              <a:highlight>
                <a:srgbClr val="FFFF00"/>
              </a:highlight>
            </a:endParaRPr>
          </a:p>
        </p:txBody>
      </p:sp>
      <p:pic>
        <p:nvPicPr>
          <p:cNvPr id="5" name="圖片 4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E1389B5F-1DED-2C8B-0DCB-17D0022F4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22" y="5071268"/>
            <a:ext cx="10802858" cy="1657581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90D66EEA-6485-CA2E-966C-B10C651203CE}"/>
              </a:ext>
            </a:extLst>
          </p:cNvPr>
          <p:cNvCxnSpPr/>
          <p:nvPr/>
        </p:nvCxnSpPr>
        <p:spPr>
          <a:xfrm>
            <a:off x="0" y="1809135"/>
            <a:ext cx="121920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86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58733-2F08-93D9-B6A7-155AB03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677" y="3061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GO</a:t>
            </a:r>
            <a:r>
              <a:rPr lang="zh-TW" altLang="en-US" dirty="0"/>
              <a:t> </a:t>
            </a:r>
            <a:r>
              <a:rPr lang="en-US" altLang="zh-TW" dirty="0"/>
              <a:t>term</a:t>
            </a:r>
            <a:r>
              <a:rPr lang="zh-TW" altLang="en-US" dirty="0"/>
              <a:t>原始資料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F2D3F18-5EE8-C22A-0573-63E6DE8C0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1" y="2506662"/>
            <a:ext cx="10515600" cy="4351338"/>
          </a:xfrm>
        </p:spPr>
        <p:txBody>
          <a:bodyPr/>
          <a:lstStyle/>
          <a:p>
            <a:r>
              <a:rPr lang="en-US" altLang="zh-TW" dirty="0"/>
              <a:t>https://downloads.wormbase.org/releases/</a:t>
            </a:r>
            <a:r>
              <a:rPr lang="en-US" altLang="zh-TW" dirty="0">
                <a:solidFill>
                  <a:srgbClr val="FF0000"/>
                </a:solidFill>
              </a:rPr>
              <a:t>current-production-release</a:t>
            </a:r>
            <a:r>
              <a:rPr lang="en-US" altLang="zh-TW" dirty="0"/>
              <a:t>/species/c_elegans/PRJNA13758/annotation/c_elegans.PRJNA13758.WS298.gene_association.wb.gz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5308063-C3C3-F633-F355-64832E949D96}"/>
              </a:ext>
            </a:extLst>
          </p:cNvPr>
          <p:cNvCxnSpPr/>
          <p:nvPr/>
        </p:nvCxnSpPr>
        <p:spPr>
          <a:xfrm>
            <a:off x="0" y="1809135"/>
            <a:ext cx="121920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3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807B1959-0DB8-AEE2-D21B-7CDE4307A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004441"/>
              </p:ext>
            </p:extLst>
          </p:nvPr>
        </p:nvGraphicFramePr>
        <p:xfrm>
          <a:off x="2782528" y="135191"/>
          <a:ext cx="9202995" cy="6587617"/>
        </p:xfrm>
        <a:graphic>
          <a:graphicData uri="http://schemas.openxmlformats.org/drawingml/2006/table">
            <a:tbl>
              <a:tblPr/>
              <a:tblGrid>
                <a:gridCol w="1840599">
                  <a:extLst>
                    <a:ext uri="{9D8B030D-6E8A-4147-A177-3AD203B41FA5}">
                      <a16:colId xmlns:a16="http://schemas.microsoft.com/office/drawing/2014/main" val="1211191314"/>
                    </a:ext>
                  </a:extLst>
                </a:gridCol>
                <a:gridCol w="1840599">
                  <a:extLst>
                    <a:ext uri="{9D8B030D-6E8A-4147-A177-3AD203B41FA5}">
                      <a16:colId xmlns:a16="http://schemas.microsoft.com/office/drawing/2014/main" val="18172270"/>
                    </a:ext>
                  </a:extLst>
                </a:gridCol>
                <a:gridCol w="1840599">
                  <a:extLst>
                    <a:ext uri="{9D8B030D-6E8A-4147-A177-3AD203B41FA5}">
                      <a16:colId xmlns:a16="http://schemas.microsoft.com/office/drawing/2014/main" val="3193811880"/>
                    </a:ext>
                  </a:extLst>
                </a:gridCol>
                <a:gridCol w="1840599">
                  <a:extLst>
                    <a:ext uri="{9D8B030D-6E8A-4147-A177-3AD203B41FA5}">
                      <a16:colId xmlns:a16="http://schemas.microsoft.com/office/drawing/2014/main" val="4125822937"/>
                    </a:ext>
                  </a:extLst>
                </a:gridCol>
                <a:gridCol w="1840599">
                  <a:extLst>
                    <a:ext uri="{9D8B030D-6E8A-4147-A177-3AD203B41FA5}">
                      <a16:colId xmlns:a16="http://schemas.microsoft.com/office/drawing/2014/main" val="823625995"/>
                    </a:ext>
                  </a:extLst>
                </a:gridCol>
              </a:tblGrid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Column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Content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Required?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Cardinality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Example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314561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2" tooltip="Definition and requirements for DB (column 1)"/>
                        </a:rPr>
                        <a:t>DB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UniProtKB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5462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2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3" tooltip="Definition and requirements for DB Object ID (column 2)"/>
                        </a:rPr>
                        <a:t>DB Object ID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P12345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7255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3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4" tooltip="Definition and requirements for DB Object Symbol (column 3)"/>
                        </a:rPr>
                        <a:t>DB Object Symbol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PHO3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64781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4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5" tooltip="Definition and requirements for Qualifier (column 4)"/>
                        </a:rPr>
                        <a:t>Qualifier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 or 2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NOT|involved_in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293597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5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6" tooltip="Definition and requirements for GO ID (column 5)"/>
                        </a:rPr>
                        <a:t>GO ID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GO:0003993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86612"/>
                  </a:ext>
                </a:extLst>
              </a:tr>
              <a:tr h="530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6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 err="1">
                          <a:solidFill>
                            <a:srgbClr val="0969DA"/>
                          </a:solidFill>
                          <a:effectLst/>
                          <a:hlinkClick r:id="rId7" tooltip="Definition and requirements for DB:Reference (column 6)"/>
                        </a:rPr>
                        <a:t>DB:Reference</a:t>
                      </a: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7" tooltip="Definition and requirements for DB:Reference (column 6)"/>
                        </a:rPr>
                        <a:t> (|</a:t>
                      </a:r>
                      <a:r>
                        <a:rPr lang="en-US" sz="1000" u="sng" dirty="0" err="1">
                          <a:solidFill>
                            <a:srgbClr val="0969DA"/>
                          </a:solidFill>
                          <a:effectLst/>
                          <a:hlinkClick r:id="rId7" tooltip="Definition and requirements for DB:Reference (column 6)"/>
                        </a:rPr>
                        <a:t>DB:Reference</a:t>
                      </a: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7" tooltip="Definition and requirements for DB:Reference (column 6)"/>
                        </a:rPr>
                        <a:t>)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 or greater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PMID:2676709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68003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7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8" tooltip="Definition and requirements for Evidence Code (column 7)"/>
                        </a:rPr>
                        <a:t>Evidence Code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IMP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81968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8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9" tooltip="Definition and requirements for With [or] From (column 8)"/>
                        </a:rPr>
                        <a:t>With (or) From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optional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0 or greater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GO:0000346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41693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9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10" tooltip="Definition and requirements for Aspect (column 9)"/>
                        </a:rPr>
                        <a:t>Aspect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F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00688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10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11" tooltip="Definition and requirements for DB Object Name (column 10)"/>
                        </a:rPr>
                        <a:t>DB Object Name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optional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0 or 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Toll-like receptor 4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79712"/>
                  </a:ext>
                </a:extLst>
              </a:tr>
              <a:tr h="758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12" tooltip="Definition and requirements for DB Object Synonym (column 11)"/>
                        </a:rPr>
                        <a:t>DB Object Synonym (|Synonym)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optional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0 or greater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hToll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348781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12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 dirty="0">
                          <a:solidFill>
                            <a:srgbClr val="0969DA"/>
                          </a:solidFill>
                          <a:effectLst/>
                          <a:hlinkClick r:id="rId13" tooltip="Definition and requirements for DB Object Type (column 12)"/>
                        </a:rPr>
                        <a:t>DB Object Type</a:t>
                      </a:r>
                      <a:endParaRPr lang="en-US" sz="1000" dirty="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protein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545770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13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>
                          <a:solidFill>
                            <a:srgbClr val="0969DA"/>
                          </a:solidFill>
                          <a:effectLst/>
                          <a:hlinkClick r:id="rId14" tooltip="Definition and requirements for Taxon (column 13)"/>
                        </a:rPr>
                        <a:t>Taxon(|taxon)</a:t>
                      </a:r>
                      <a:endParaRPr lang="en-US" sz="100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 or 2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taxon:9606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9217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14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>
                          <a:solidFill>
                            <a:srgbClr val="0969DA"/>
                          </a:solidFill>
                          <a:effectLst/>
                          <a:hlinkClick r:id="rId15" tooltip="Definition and requirements for Date (column 14)"/>
                        </a:rPr>
                        <a:t>Date</a:t>
                      </a:r>
                      <a:endParaRPr lang="en-US" sz="100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20090118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02367"/>
                  </a:ext>
                </a:extLst>
              </a:tr>
              <a:tr h="302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15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>
                          <a:solidFill>
                            <a:srgbClr val="0969DA"/>
                          </a:solidFill>
                          <a:effectLst/>
                          <a:hlinkClick r:id="rId16" tooltip="Definition and requirements for Assigned By (column 15)"/>
                        </a:rPr>
                        <a:t>Assigned By</a:t>
                      </a:r>
                      <a:endParaRPr lang="en-US" sz="100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required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SGD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372315"/>
                  </a:ext>
                </a:extLst>
              </a:tr>
              <a:tr h="530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16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>
                          <a:solidFill>
                            <a:srgbClr val="0969DA"/>
                          </a:solidFill>
                          <a:effectLst/>
                          <a:hlinkClick r:id="rId17" tooltip="Definition and requirements for Annotation Extension (column 16)"/>
                        </a:rPr>
                        <a:t>Annotation Extension</a:t>
                      </a:r>
                      <a:endParaRPr lang="en-US" sz="100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optional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0 or greater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part_of(CL:0000576)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971708"/>
                  </a:ext>
                </a:extLst>
              </a:tr>
              <a:tr h="530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>
                          <a:effectLst/>
                        </a:rPr>
                        <a:t>17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u="sng">
                          <a:solidFill>
                            <a:srgbClr val="0969DA"/>
                          </a:solidFill>
                          <a:effectLst/>
                          <a:hlinkClick r:id="rId18" tooltip="Definition and requirements for Gene Product Form ID (column 17)"/>
                        </a:rPr>
                        <a:t>Gene Product Form ID</a:t>
                      </a:r>
                      <a:endParaRPr lang="en-US" sz="1000">
                        <a:effectLst/>
                      </a:endParaRP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optional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0 or 1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UniProtKB:P12345-2</a:t>
                      </a:r>
                    </a:p>
                  </a:txBody>
                  <a:tcPr marL="54183" marR="54183" marT="25008" marB="25008" anchor="ctr">
                    <a:lnL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170165"/>
                  </a:ext>
                </a:extLst>
              </a:tr>
            </a:tbl>
          </a:graphicData>
        </a:graphic>
      </p:graphicFrame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64BB5CA-0AA6-B8C9-0E29-3103A8D96AEB}"/>
              </a:ext>
            </a:extLst>
          </p:cNvPr>
          <p:cNvSpPr txBox="1">
            <a:spLocks/>
          </p:cNvSpPr>
          <p:nvPr/>
        </p:nvSpPr>
        <p:spPr>
          <a:xfrm>
            <a:off x="277761" y="1471327"/>
            <a:ext cx="18755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/>
              <a:t>欄位定義</a:t>
            </a:r>
            <a:endParaRPr lang="en-US" altLang="zh-TW"/>
          </a:p>
          <a:p>
            <a:r>
              <a:rPr lang="en-US" altLang="zh-TW">
                <a:hlinkClick r:id="rId19"/>
              </a:rPr>
              <a:t>https://github.com/geneontology/geneontology.github.io/blob/issue-go-annotation-2917-gaf-2_2-doc/_docs/go-annotation-file-gaf-format-22.md</a:t>
            </a:r>
            <a:endParaRPr lang="en-US" altLang="zh-TW"/>
          </a:p>
          <a:p>
            <a:endParaRPr lang="en-US" altLang="zh-TW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593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A7F6715-7279-5A77-A1BD-792711567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299"/>
            <a:ext cx="12192000" cy="32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1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33D59E-AE0B-017A-64EF-1586B592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GO term</a:t>
            </a:r>
            <a:r>
              <a:rPr lang="zh-TW" altLang="en-US" dirty="0"/>
              <a:t> 特徵表答案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B821AA-3B5A-C81E-ACCC-B91696770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987" y="3426542"/>
            <a:ext cx="10515600" cy="4351338"/>
          </a:xfrm>
        </p:spPr>
        <p:txBody>
          <a:bodyPr/>
          <a:lstStyle/>
          <a:p>
            <a:r>
              <a:rPr lang="zh-TW" altLang="en-US" dirty="0"/>
              <a:t>反整理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剔除那些不在線蟲</a:t>
            </a:r>
            <a:r>
              <a:rPr lang="en-US" altLang="zh-TW" dirty="0">
                <a:solidFill>
                  <a:srgbClr val="FF0000"/>
                </a:solidFill>
              </a:rPr>
              <a:t>genome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(49164 genes)</a:t>
            </a:r>
            <a:r>
              <a:rPr lang="zh-TW" altLang="en-US" dirty="0">
                <a:solidFill>
                  <a:srgbClr val="FF0000"/>
                </a:solidFill>
              </a:rPr>
              <a:t>的答案</a:t>
            </a: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06A8F80-2DAC-82F7-9790-12A89915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1935"/>
            <a:ext cx="6001588" cy="838317"/>
          </a:xfrm>
          <a:prstGeom prst="rect">
            <a:avLst/>
          </a:prstGeom>
        </p:spPr>
      </p:pic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95D71B46-3EFC-F3CE-4A40-DD48AF1180D7}"/>
              </a:ext>
            </a:extLst>
          </p:cNvPr>
          <p:cNvCxnSpPr/>
          <p:nvPr/>
        </p:nvCxnSpPr>
        <p:spPr>
          <a:xfrm>
            <a:off x="0" y="1809135"/>
            <a:ext cx="121920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42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DF9B5-155F-F3F9-7D44-E95F97AB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365125"/>
            <a:ext cx="11887200" cy="1325563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將特徵分析器改成做線蟲</a:t>
            </a:r>
            <a:r>
              <a:rPr lang="en-US" altLang="zh-TW" sz="3200" dirty="0"/>
              <a:t>GO term enrichment/depletion</a:t>
            </a:r>
            <a:r>
              <a:rPr lang="zh-TW" altLang="en-US" sz="3200" dirty="0"/>
              <a:t>分析</a:t>
            </a:r>
            <a:br>
              <a:rPr lang="en-US" altLang="zh-TW" sz="3200" dirty="0"/>
            </a:br>
            <a:r>
              <a:rPr lang="zh-TW" altLang="en-US" sz="3200" dirty="0"/>
              <a:t>選多重假設校正方法</a:t>
            </a:r>
            <a:r>
              <a:rPr lang="en-US" altLang="zh-TW" sz="3200" dirty="0"/>
              <a:t>(None, FDR, Bonferroni)</a:t>
            </a:r>
            <a:br>
              <a:rPr lang="en-US" altLang="zh-TW" sz="3200" dirty="0"/>
            </a:br>
            <a:r>
              <a:rPr lang="zh-TW" altLang="en-US" sz="3200" dirty="0"/>
              <a:t>選</a:t>
            </a:r>
            <a:r>
              <a:rPr lang="en-US" altLang="zh-TW" sz="3200" dirty="0"/>
              <a:t>cutoff: adjust p-value &lt;=0.01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C9647F-9703-39AC-407E-60C9BABBA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987" y="2506662"/>
            <a:ext cx="1024275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(Molecular Function), P (Biological Process), C (Cellular Component)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Enrichment</a:t>
            </a:r>
            <a:r>
              <a:rPr lang="zh-TW" altLang="en-US" dirty="0"/>
              <a:t>分析答案欄位有</a:t>
            </a:r>
            <a:endParaRPr lang="en-US" altLang="zh-TW" dirty="0"/>
          </a:p>
          <a:p>
            <a:r>
              <a:rPr lang="en-US" altLang="zh-TW" dirty="0"/>
              <a:t>GO</a:t>
            </a:r>
            <a:r>
              <a:rPr lang="zh-TW" altLang="en-US" dirty="0"/>
              <a:t> </a:t>
            </a:r>
            <a:r>
              <a:rPr lang="en-US" altLang="zh-TW" dirty="0"/>
              <a:t>term, expected ratio, observed ratio, </a:t>
            </a:r>
            <a:r>
              <a:rPr lang="en-US" altLang="zh-TW" b="1" dirty="0"/>
              <a:t>log_2(enrichment fold change)</a:t>
            </a:r>
            <a:r>
              <a:rPr lang="en-US" altLang="zh-TW" dirty="0"/>
              <a:t>, adjusted p-value</a:t>
            </a:r>
          </a:p>
          <a:p>
            <a:r>
              <a:rPr lang="zh-TW" altLang="en-US" dirty="0"/>
              <a:t>過關的 </a:t>
            </a:r>
            <a:r>
              <a:rPr lang="en-US" altLang="zh-TW" dirty="0"/>
              <a:t>log_2(enrichment fold change)</a:t>
            </a:r>
            <a:r>
              <a:rPr lang="zh-TW" altLang="en-US" dirty="0"/>
              <a:t>這個值應該會是</a:t>
            </a:r>
            <a:r>
              <a:rPr lang="zh-TW" altLang="en-US" dirty="0">
                <a:solidFill>
                  <a:srgbClr val="FF0000"/>
                </a:solidFill>
              </a:rPr>
              <a:t>很大的正數 </a:t>
            </a:r>
            <a:r>
              <a:rPr lang="en-US" altLang="zh-TW" dirty="0"/>
              <a:t>(ex. +100)</a:t>
            </a:r>
          </a:p>
          <a:p>
            <a:endParaRPr lang="en-US" altLang="zh-TW" dirty="0"/>
          </a:p>
          <a:p>
            <a:r>
              <a:rPr lang="en-US" altLang="zh-TW" dirty="0"/>
              <a:t>Depletion</a:t>
            </a:r>
            <a:r>
              <a:rPr lang="zh-TW" altLang="en-US" dirty="0"/>
              <a:t>分析答案欄位有</a:t>
            </a:r>
          </a:p>
          <a:p>
            <a:r>
              <a:rPr lang="en-US" altLang="zh-TW" dirty="0"/>
              <a:t>GO term, expected ratio, observed ratio, </a:t>
            </a:r>
            <a:r>
              <a:rPr lang="en-US" altLang="zh-TW" b="1" dirty="0"/>
              <a:t>log_2(enrichment fold change)</a:t>
            </a:r>
            <a:r>
              <a:rPr lang="en-US" altLang="zh-TW" dirty="0"/>
              <a:t>, adjusted p-value</a:t>
            </a:r>
          </a:p>
          <a:p>
            <a:r>
              <a:rPr lang="zh-TW" altLang="en-US" dirty="0"/>
              <a:t>過關的 </a:t>
            </a:r>
            <a:r>
              <a:rPr lang="en-US" altLang="zh-TW" dirty="0"/>
              <a:t>log_2(enrichment fold change)</a:t>
            </a:r>
            <a:r>
              <a:rPr lang="zh-TW" altLang="en-US" dirty="0"/>
              <a:t>這個值應該會是</a:t>
            </a:r>
            <a:r>
              <a:rPr lang="zh-TW" altLang="en-US" dirty="0">
                <a:solidFill>
                  <a:srgbClr val="FF0000"/>
                </a:solidFill>
              </a:rPr>
              <a:t>很小的負數 </a:t>
            </a:r>
            <a:r>
              <a:rPr lang="en-US" altLang="zh-TW" dirty="0"/>
              <a:t>(ex. -100)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7E0C461-5135-0C24-71EB-3F3A46FFE7AE}"/>
              </a:ext>
            </a:extLst>
          </p:cNvPr>
          <p:cNvCxnSpPr/>
          <p:nvPr/>
        </p:nvCxnSpPr>
        <p:spPr>
          <a:xfrm>
            <a:off x="0" y="1809135"/>
            <a:ext cx="1219200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83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462</Words>
  <Application>Microsoft Office PowerPoint</Application>
  <PresentationFormat>寬螢幕</PresentationFormat>
  <Paragraphs>114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線蟲genes, GO term整理</vt:lpstr>
      <vt:lpstr>整理線蟲基因對照表, C. elegans W298 genome=49164 genes</vt:lpstr>
      <vt:lpstr>GO term原始資料</vt:lpstr>
      <vt:lpstr>PowerPoint 簡報</vt:lpstr>
      <vt:lpstr>PowerPoint 簡報</vt:lpstr>
      <vt:lpstr>GO term 特徵表答案</vt:lpstr>
      <vt:lpstr>將特徵分析器改成做線蟲GO term enrichment/depletion分析 選多重假設校正方法(None, FDR, Bonferroni) 選cutoff: adjust p-value &lt;=0.01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吳謂勝</dc:creator>
  <cp:lastModifiedBy>吳謂勝</cp:lastModifiedBy>
  <cp:revision>22</cp:revision>
  <dcterms:created xsi:type="dcterms:W3CDTF">2026-01-22T00:33:36Z</dcterms:created>
  <dcterms:modified xsi:type="dcterms:W3CDTF">2026-01-26T16:42:34Z</dcterms:modified>
</cp:coreProperties>
</file>